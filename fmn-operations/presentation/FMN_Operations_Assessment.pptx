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71ea0776e3458d" /><Relationship Type="http://schemas.openxmlformats.org/officeDocument/2006/relationships/extended-properties" Target="/docProps/app.xml" Id="Rd890cf4f0fa04183" /><Relationship Type="http://schemas.openxmlformats.org/officeDocument/2006/relationships/officeDocument" Target="/ppt/presentation.xml" Id="Rac702095c16545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cca278dbd840d3"/>
  </p:sldMasterIdLst>
  <p:notesMasterIdLst>
    <p:notesMasterId xmlns:r="http://schemas.openxmlformats.org/officeDocument/2006/relationships" r:id="R7a37eb20e1bf4414"/>
  </p:notesMasterIdLst>
  <p:sldIdLst>
    <p:sldId xmlns:r="http://schemas.openxmlformats.org/officeDocument/2006/relationships" id="256" r:id="Rb2274892d4eb40f1"/>
    <p:sldId xmlns:r="http://schemas.openxmlformats.org/officeDocument/2006/relationships" id="257" r:id="R2b8f10741eef4ae8"/>
    <p:sldId xmlns:r="http://schemas.openxmlformats.org/officeDocument/2006/relationships" id="258" r:id="Rbdd6a803bcc3447e"/>
    <p:sldId xmlns:r="http://schemas.openxmlformats.org/officeDocument/2006/relationships" id="259" r:id="R4359ce1f9e1d4677"/>
    <p:sldId xmlns:r="http://schemas.openxmlformats.org/officeDocument/2006/relationships" id="260" r:id="R353642ecb9d248d4"/>
    <p:sldId xmlns:r="http://schemas.openxmlformats.org/officeDocument/2006/relationships" id="261" r:id="Rebab5841940b4e88"/>
    <p:sldId xmlns:r="http://schemas.openxmlformats.org/officeDocument/2006/relationships" id="262" r:id="Rc6a25defbdc445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c67731438d4a20" /><Relationship Type="http://schemas.openxmlformats.org/officeDocument/2006/relationships/slideMaster" Target="/ppt/slideMasters/slideMaster1.xml" Id="Rcecca278dbd840d3" /><Relationship Type="http://schemas.openxmlformats.org/officeDocument/2006/relationships/notesMaster" Target="/ppt/notesMasters/notesMaster1.xml" Id="R7a37eb20e1bf4414" /><Relationship Type="http://schemas.openxmlformats.org/officeDocument/2006/relationships/presProps" Target="/ppt/presProps.xml" Id="Rcc249654f1aa40a2" /><Relationship Type="http://schemas.openxmlformats.org/officeDocument/2006/relationships/tableStyles" Target="/ppt/tableStyles.xml" Id="Reeca193bcb004c22" /><Relationship Type="http://schemas.openxmlformats.org/officeDocument/2006/relationships/slide" Target="/ppt/slides/slide1.xml" Id="Rb2274892d4eb40f1" /><Relationship Type="http://schemas.openxmlformats.org/officeDocument/2006/relationships/slide" Target="/ppt/slides/slide2.xml" Id="R2b8f10741eef4ae8" /><Relationship Type="http://schemas.openxmlformats.org/officeDocument/2006/relationships/slide" Target="/ppt/slides/slide3.xml" Id="Rbdd6a803bcc3447e" /><Relationship Type="http://schemas.openxmlformats.org/officeDocument/2006/relationships/slide" Target="/ppt/slides/slide4.xml" Id="R4359ce1f9e1d4677" /><Relationship Type="http://schemas.openxmlformats.org/officeDocument/2006/relationships/slide" Target="/ppt/slides/slide5.xml" Id="R353642ecb9d248d4" /><Relationship Type="http://schemas.openxmlformats.org/officeDocument/2006/relationships/slide" Target="/ppt/slides/slide6.xml" Id="Rebab5841940b4e88" /><Relationship Type="http://schemas.openxmlformats.org/officeDocument/2006/relationships/slide" Target="/ppt/slides/slide7.xml" Id="Rc6a25defbdc445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34f3c649c44a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b480969cfc49b2" /><Relationship Type="http://schemas.openxmlformats.org/officeDocument/2006/relationships/notesMaster" Target="/ppt/notesMasters/notesMaster1.xml" Id="R2c412cbcd6044b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574314fefb4a83" /><Relationship Type="http://schemas.openxmlformats.org/officeDocument/2006/relationships/notesMaster" Target="/ppt/notesMasters/notesMaster1.xml" Id="Rd350c3923f5e46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41189b243547a8" /><Relationship Type="http://schemas.openxmlformats.org/officeDocument/2006/relationships/notesMaster" Target="/ppt/notesMasters/notesMaster1.xml" Id="Ra9f6ba5720844b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03617ece4942a1" /><Relationship Type="http://schemas.openxmlformats.org/officeDocument/2006/relationships/notesMaster" Target="/ppt/notesMasters/notesMaster1.xml" Id="R9988c111fd944e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91fb5ff33d4c60" /><Relationship Type="http://schemas.openxmlformats.org/officeDocument/2006/relationships/notesMaster" Target="/ppt/notesMasters/notesMaster1.xml" Id="R552974b10c5443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28c6ed707a4a14" /><Relationship Type="http://schemas.openxmlformats.org/officeDocument/2006/relationships/notesMaster" Target="/ppt/notesMasters/notesMaster1.xml" Id="R3f68dde8794648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3749b30d9f48a8" /><Relationship Type="http://schemas.openxmlformats.org/officeDocument/2006/relationships/notesMaster" Target="/ppt/notesMasters/notesMaster1.xml" Id="R9f2b0bde9cb847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FMN_AI_Internship_Technical_Assessment.docx and both supplied CSVs. This is an assessment prototype, not a deployed FMN production system. Opening: the sponsors need actionable warning with plain-language evidence. All dates in the demo are historical.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artifacts/dashboard.json evaluation.supply, src/supply.py. Three tuning origins in April and three test origins in May/June, each 14 days. Selected model test WAPE 17.576%, MAE 52.868. Forecasts estimate sales, not latent unconstrained demand. The 30-day UI view extends beyond the evaluated 14-day horizon.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presentation/supply-demo.png, captured from the implemented app. Demo: select SKU-1000, inspect lead-time demand and stock, then show new SKU-2000. Ask why SKU-1004 is flagged: it is actually Healthy in this snapshot. Explain that live AI requires a configured API key.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artifacts/dashboard.json evaluation.manufacturing. Train Jan-Feb with 24h purge, validate March, test April. Selected L2=100 by March AP; threshold 0.47 maximizes March F2. Sensor test AP .30945, baseline .16949, prevalence .017855. Complete-window event recall 4/7. MCH-203 April 30 event excluded from event denominator due to incomplete evaluable pre-event window after censoring.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presentation/manufacturing-replay.png and artifacts/dashboard.json manufacturing_replays[2026-04-13 00:00:00]. At replay MCH-207 score is approximately .980, vibration 2.279 mm/s, maintenance age 2449h. Only earlier validation summaries reach replay AI, not later test outcomes. The latest April 30 snapshot has no above-threshold machines, so replay demonstrates a real earlier warning.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src/llm.py and server.py. Integration uses OpenAI Responses API: https://developers.openai.com/api/reference/resources/responses/methods/create. Structured output is checked for source-ID validity. These checks do not verify all numeric semantics. No live call was verified during development because no key was configured; mocked request tests pass.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README.md. Local run: python server.py after installing NumPy/pandas. Models, backtests, tests, source CSVs, frontend and deck included. Public app deployment and remote repository not created. Before submission: configure API key, run smoke_llm.py, review actual explanations, create repository URL and rehearse walkthrough. Production work: more failure data, calibrated and cost-based alerts, ERP purchase orders, authentication and live ingestion.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b4ce241ca547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88713d85614586" /><Relationship Type="http://schemas.openxmlformats.org/officeDocument/2006/relationships/slideLayout" Target="/ppt/slideLayouts/slideLayout1.xml" Id="R829f84939b9449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9f84939b9449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b4e84ad162400c" /><Relationship Type="http://schemas.openxmlformats.org/officeDocument/2006/relationships/notesSlide" Target="/ppt/notesSlides/notesSlide1.xml" Id="Rf95131c12f974b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73ed0187ca4c44" /><Relationship Type="http://schemas.openxmlformats.org/officeDocument/2006/relationships/chart" Target="/ppt/slides/charts/chart1.xml" Id="R2f15ac7cd2044ba8" /><Relationship Type="http://schemas.openxmlformats.org/officeDocument/2006/relationships/notesSlide" Target="/ppt/notesSlides/notesSlide2.xml" Id="R143e37e5eed241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6d776361af45ff" /><Relationship Type="http://schemas.openxmlformats.org/officeDocument/2006/relationships/image" Target="/ppt/media/image.jpeg" Id="R185a5c89518441f2" /><Relationship Type="http://schemas.openxmlformats.org/officeDocument/2006/relationships/notesSlide" Target="/ppt/notesSlides/notesSlide3.xml" Id="R2dd2bc5639e347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9a5896bf504fd0" /><Relationship Type="http://schemas.openxmlformats.org/officeDocument/2006/relationships/notesSlide" Target="/ppt/notesSlides/notesSlide4.xml" Id="R36dbb8bbefd64f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2698af803e4f6c" /><Relationship Type="http://schemas.openxmlformats.org/officeDocument/2006/relationships/image" Target="/ppt/media/image2.jpeg" Id="Rc7db90a5c6f742ed" /><Relationship Type="http://schemas.openxmlformats.org/officeDocument/2006/relationships/notesSlide" Target="/ppt/notesSlides/notesSlide5.xml" Id="R04ee545478da4d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4bc112ef494d72" /><Relationship Type="http://schemas.openxmlformats.org/officeDocument/2006/relationships/notesSlide" Target="/ppt/notesSlides/notesSlide6.xml" Id="Rda15907be37d4e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e7b348836943b0" /><Relationship Type="http://schemas.openxmlformats.org/officeDocument/2006/relationships/notesSlide" Target="/ppt/notesSlides/notesSlide7.xml" Id="R7edc39c89eb7499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Test WAPE (%)</c:v>
          </c:tx>
          <c:spPr>
            <a:solidFill xmlns:a="http://schemas.openxmlformats.org/drawingml/2006/main">
              <a:srgbClr val="197B72"/>
            </a:solidFill>
          </c:spPr>
          <c:cat>
            <c:strRef>
              <c:f>'Chart Data'!$A$2:$A$4</c:f>
              <c:strCache>
                <c:ptCount val="3"/>
                <c:pt idx="0">
                  <c:v>Mean28</c:v>
                </c:pt>
                <c:pt idx="1">
                  <c:v>Seasonal7</c:v>
                </c:pt>
                <c:pt idx="2">
                  <c:v>Weekday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19.8</c:v>
                </c:pt>
                <c:pt idx="1">
                  <c:v>24.1</c:v>
                </c:pt>
                <c:pt idx="2">
                  <c:v>17.58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6333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0746C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3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F44CA3-AEDD-412A-830A-BE95CBE4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D6B97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6B971"/>
                </a:solidFill>
                <a:latin typeface="Arial"/>
                <a:ea typeface="Arial"/>
                <a:cs typeface="Arial"/>
              </a:rPr>
              <a:t>FMN 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8CC64-B9B3-490F-A78C-2A6D0C46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Supply chain and plant decision support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802633-94DA-4106-83B0-8713647B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981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DD3C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DD3C6"/>
                </a:solidFill>
                <a:latin typeface="Arial"/>
                <a:ea typeface="Arial"/>
                <a:cs typeface="Arial"/>
              </a:rPr>
              <a:t>Two business apps with measured models and runtime AI explanations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B0ADF8-CCC8-4235-867B-69F3BEDC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76650"/>
            <a:ext cx="4381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D6B97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D6B971"/>
                </a:solidFill>
                <a:latin typeface="Arial"/>
                <a:ea typeface="Arial"/>
                <a:cs typeface="Arial"/>
              </a:rPr>
              <a:t>28 SKUs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7FAC08-B53C-4856-9CC5-1B951198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0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Which items need replenishment attention?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2AA705-3D76-4D30-B362-F2B4DDB6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76650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D6B97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D6B971"/>
                </a:solidFill>
                <a:latin typeface="Arial"/>
                <a:ea typeface="Arial"/>
                <a:cs typeface="Arial"/>
              </a:rPr>
              <a:t>17 machines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3D8133-5359-462C-A3FC-A9734BB6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81500"/>
            <a:ext cx="4667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Which machines need inspection in the next 24 hours?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20547B-4FAE-481D-9C5A-1ADCA481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DD3C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DD3C6"/>
                </a:solidFill>
                <a:latin typeface="Arial"/>
                <a:ea typeface="Arial"/>
                <a:cs typeface="Arial"/>
              </a:rPr>
              <a:t>FMN AI Engineer Internship technical assessment</a:t>
            </a:r>
          </a:p>
        </p:txBody>
      </p:sp>
    </p:spTree>
    <p:extLst>
      <p:ext uri="{BB962C8B-B14F-4D97-AF65-F5344CB8AC3E}">
        <p14:creationId xmlns:p14="http://schemas.microsoft.com/office/powerpoint/2010/main" val="3731424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4AC91A-C8D5-4A33-839D-3663FDD6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3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335"/>
                </a:solidFill>
                <a:latin typeface="Arial"/>
                <a:ea typeface="Arial"/>
                <a:cs typeface="Arial"/>
              </a:rPr>
              <a:t>Supply forecasts support a clear stock policy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C6A2E9-E91F-49E9-9CD4-260174B0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81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333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3335"/>
                </a:solidFill>
                <a:latin typeface="Arial"/>
                <a:ea typeface="Arial"/>
                <a:cs typeface="Arial"/>
              </a:rPr>
              <a:t>Held-out sales error, WAPE (%)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571500" y="2047875"/>
          <a:ext xmlns:a="http://schemas.openxmlformats.org/drawingml/2006/main" cx="5857875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f15ac7cd2044ba8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4CC539-50FD-4E1B-BF9A-3394CA7B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476375"/>
            <a:ext cx="436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97B7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7B72"/>
                </a:solidFill>
                <a:latin typeface="Arial"/>
                <a:ea typeface="Arial"/>
                <a:cs typeface="Arial"/>
              </a:rPr>
              <a:t>Model choice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375A72-7610-4462-892E-339AAF5D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33575"/>
            <a:ext cx="43624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33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335"/>
                </a:solidFill>
                <a:latin typeface="Arial"/>
                <a:ea typeface="Arial"/>
                <a:cs typeface="Arial"/>
              </a:rPr>
              <a:t>Weekly patterns with shrinkage fit six months of data. Test WAPE: 17.6%.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95B9B8-B734-4322-A35F-A7AC5BAF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38500"/>
            <a:ext cx="436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97B7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7B72"/>
                </a:solidFill>
                <a:latin typeface="Arial"/>
                <a:ea typeface="Arial"/>
                <a:cs typeface="Arial"/>
              </a:rPr>
              <a:t>Action logic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36E551-E056-470A-B44F-C3C9D8D8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95700"/>
            <a:ext cx="43624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33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335"/>
                </a:solidFill>
                <a:latin typeface="Arial"/>
                <a:ea typeface="Arial"/>
                <a:cs typeface="Arial"/>
              </a:rPr>
              <a:t>Compare lead-time sales plus a reserve with stock. Show shortages, reorder pressure or excess cover.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B7FB37-8AB6-4DF6-9D4F-B9082792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4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46C"/>
                </a:solidFill>
                <a:latin typeface="Arial"/>
                <a:ea typeface="Arial"/>
                <a:cs typeface="Arial"/>
              </a:rPr>
              <a:t>New-SKU simulation WAPE: 31.2%. No future receipts are assumed. Reserve is a policy heuristic.</a:t>
            </a:r>
          </a:p>
        </p:txBody>
      </p:sp>
    </p:spTree>
    <p:extLst>
      <p:ext uri="{BB962C8B-B14F-4D97-AF65-F5344CB8AC3E}">
        <p14:creationId xmlns:p14="http://schemas.microsoft.com/office/powerpoint/2010/main" val="211179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AAC5CD-D834-4A35-A3C3-4C3860FB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3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335"/>
                </a:solidFill>
                <a:latin typeface="Arial"/>
                <a:ea typeface="Arial"/>
                <a:cs typeface="Arial"/>
              </a:rPr>
              <a:t>Supply chain demo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5a5c89518441f2"/>
          <a:stretch xmlns:a="http://schemas.openxmlformats.org/drawingml/2006/main"/>
        </p:blipFill>
        <p:spPr>
          <a:xfrm xmlns:a="http://schemas.openxmlformats.org/drawingml/2006/main">
            <a:off x="3790950" y="1436332"/>
            <a:ext cx="7791450" cy="438538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813297-E980-4473-9083-C24A0686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97B7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7B72"/>
                </a:solidFill>
                <a:latin typeface="Arial"/>
                <a:ea typeface="Arial"/>
                <a:cs typeface="Arial"/>
              </a:rPr>
              <a:t>One attention list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7580B4-8AC6-4725-B379-3A4D0CBD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2762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33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335"/>
                </a:solidFill>
                <a:latin typeface="Arial"/>
                <a:ea typeface="Arial"/>
                <a:cs typeface="Arial"/>
              </a:rPr>
              <a:t>Filter by category or status and open a SKU for its forecast and stock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8619E6-0686-422A-9111-38E1FC21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97B7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7B72"/>
                </a:solidFill>
                <a:latin typeface="Arial"/>
                <a:ea typeface="Arial"/>
                <a:cs typeface="Arial"/>
              </a:rPr>
              <a:t>Visible assumptions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AA3935-D2D9-47B8-AE5D-F308E86D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2762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33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335"/>
                </a:solidFill>
                <a:latin typeface="Arial"/>
                <a:ea typeface="Arial"/>
                <a:cs typeface="Arial"/>
              </a:rPr>
              <a:t>New launches carry a limited-history warning. Explanations cite the selected item.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E1A04C-E1C4-4594-86BA-2F550754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4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46C"/>
                </a:solidFill>
                <a:latin typeface="Arial"/>
                <a:ea typeface="Arial"/>
                <a:cs typeface="Arial"/>
              </a:rPr>
              <a:t>Actual interface. Snapshot: 29 June 2026. The app shows 13 shortages and 2 reserve-driven reorders.</a:t>
            </a:r>
          </a:p>
        </p:txBody>
      </p:sp>
    </p:spTree>
    <p:extLst>
      <p:ext uri="{BB962C8B-B14F-4D97-AF65-F5344CB8AC3E}">
        <p14:creationId xmlns:p14="http://schemas.microsoft.com/office/powerpoint/2010/main" val="20186439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C3FFE4-26B3-4048-A0F1-266D298D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3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335"/>
                </a:solidFill>
                <a:latin typeface="Arial"/>
                <a:ea typeface="Arial"/>
                <a:cs typeface="Arial"/>
              </a:rPr>
              <a:t>Machine ranking has signal, with material misses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1CA217-BA66-40F5-A610-CA07FDBB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342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197B72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97B72"/>
                </a:solidFill>
                <a:latin typeface="Arial"/>
                <a:ea typeface="Arial"/>
                <a:cs typeface="Arial"/>
              </a:rPr>
              <a:t>0.309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992894-4673-44F2-B7B0-FEA40618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390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333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3335"/>
                </a:solidFill>
                <a:latin typeface="Arial"/>
                <a:ea typeface="Arial"/>
                <a:cs typeface="Arial"/>
              </a:rPr>
              <a:t>Test average precision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5FA886-AF46-4FF5-B481-D54987E2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447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074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746C"/>
                </a:solidFill>
                <a:latin typeface="Arial"/>
                <a:ea typeface="Arial"/>
                <a:cs typeface="Arial"/>
              </a:rPr>
              <a:t>Maintenance-only baseline: 0.169</a:t>
            </a:r>
          </a:p>
          <a:p xmlns:a="http://schemas.openxmlformats.org/drawingml/2006/main">
            <a:pPr>
              <a:defRPr sz="1875" b="0">
                <a:solidFill>
                  <a:srgbClr val="6074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746C"/>
                </a:solidFill>
                <a:latin typeface="Arial"/>
                <a:ea typeface="Arial"/>
                <a:cs typeface="Arial"/>
              </a:rPr>
              <a:t>Positive-hour prevalence: 1.79%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3FFC56-6FA1-464C-AEA9-6285C503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28750"/>
            <a:ext cx="428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197B72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97B72"/>
                </a:solidFill>
                <a:latin typeface="Arial"/>
                <a:ea typeface="Arial"/>
                <a:cs typeface="Arial"/>
              </a:rPr>
              <a:t>4 of 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DF79B0-C67F-4A99-A22E-4BBB1FCF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81250"/>
            <a:ext cx="4714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333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3335"/>
                </a:solidFill>
                <a:latin typeface="Arial"/>
                <a:ea typeface="Arial"/>
                <a:cs typeface="Arial"/>
              </a:rPr>
              <a:t>Test failures warned in advance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0C1AA1-B18F-4F4B-B0BF-CF9BEEF4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95275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074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746C"/>
                </a:solidFill>
                <a:latin typeface="Arial"/>
                <a:ea typeface="Arial"/>
                <a:cs typeface="Arial"/>
              </a:rPr>
              <a:t>316 false alert hours</a:t>
            </a:r>
          </a:p>
          <a:p xmlns:a="http://schemas.openxmlformats.org/drawingml/2006/main">
            <a:pPr>
              <a:defRPr sz="1875" b="0">
                <a:solidFill>
                  <a:srgbClr val="6074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746C"/>
                </a:solidFill>
                <a:latin typeface="Arial"/>
                <a:ea typeface="Arial"/>
                <a:cs typeface="Arial"/>
              </a:rPr>
              <a:t>21.4% precision, 45.7% hourly recall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5F0033-72DA-450D-AB0E-1C3B6AB2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633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335"/>
                </a:solidFill>
                <a:latin typeface="Arial"/>
                <a:ea typeface="Arial"/>
                <a:cs typeface="Arial"/>
              </a:rPr>
              <a:t>Regularized logistic regression uses causal sensor features and a frozen 0.47 threshold.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3BEC88-ACD4-48A7-AEBC-AB0FB3EC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4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46C"/>
                </a:solidFill>
                <a:latin typeface="Arial"/>
                <a:ea typeface="Arial"/>
                <a:cs typeface="Arial"/>
              </a:rPr>
              <a:t>Only 17 failures in the full dataset. Brier score is worse than an always-zero baseline. Scores are uncalibrated.</a:t>
            </a:r>
          </a:p>
        </p:txBody>
      </p:sp>
    </p:spTree>
    <p:extLst>
      <p:ext uri="{BB962C8B-B14F-4D97-AF65-F5344CB8AC3E}">
        <p14:creationId xmlns:p14="http://schemas.microsoft.com/office/powerpoint/2010/main" val="16503073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2CBA44-6602-46E2-98E5-0DDC44C2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3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335"/>
                </a:solidFill>
                <a:latin typeface="Arial"/>
                <a:ea typeface="Arial"/>
                <a:cs typeface="Arial"/>
              </a:rPr>
              <a:t>Plant demo with historical replay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db90a5c6f742ed"/>
          <a:stretch xmlns:a="http://schemas.openxmlformats.org/drawingml/2006/main"/>
        </p:blipFill>
        <p:spPr>
          <a:xfrm xmlns:a="http://schemas.openxmlformats.org/drawingml/2006/main">
            <a:off x="3790950" y="1436332"/>
            <a:ext cx="7791450" cy="438538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B67553-7C86-4C4E-A8A4-AAD559A9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280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97B7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7B72"/>
                </a:solidFill>
                <a:latin typeface="Arial"/>
                <a:ea typeface="Arial"/>
                <a:cs typeface="Arial"/>
              </a:rPr>
              <a:t>A real warning state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401678-13F2-46E7-AD8F-E00671E9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2809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33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335"/>
                </a:solidFill>
                <a:latin typeface="Arial"/>
                <a:ea typeface="Arial"/>
                <a:cs typeface="Arial"/>
              </a:rPr>
              <a:t>Replay 13 April. Inspect MCH-207 and its rising or sustained score history.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26D43A-B14C-4570-B3E1-FFF14977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280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97B7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7B72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B038DA-59D5-44F9-A6C7-0E3678A2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2809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33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335"/>
                </a:solidFill>
                <a:latin typeface="Arial"/>
                <a:ea typeface="Arial"/>
                <a:cs typeface="Arial"/>
              </a:rPr>
              <a:t>Sensor contributions explain the score. They do not establish a mechanical cause.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C4E554-7581-4DF8-ADEA-DCBD9977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4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46C"/>
                </a:solidFill>
                <a:latin typeface="Arial"/>
                <a:ea typeface="Arial"/>
                <a:cs typeface="Arial"/>
              </a:rPr>
              <a:t>Actual interface. Replay uses readings available at that timestamp. No later test outcomes enter AI context.</a:t>
            </a:r>
          </a:p>
        </p:txBody>
      </p:sp>
    </p:spTree>
    <p:extLst>
      <p:ext uri="{BB962C8B-B14F-4D97-AF65-F5344CB8AC3E}">
        <p14:creationId xmlns:p14="http://schemas.microsoft.com/office/powerpoint/2010/main" val="16765127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A5AEEA-F8FE-405B-A686-9C3412E1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3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335"/>
                </a:solidFill>
                <a:latin typeface="Arial"/>
                <a:ea typeface="Arial"/>
                <a:cs typeface="Arial"/>
              </a:rPr>
              <a:t>Runtime AI explains retrieved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03C937-3BD2-4B83-B6F3-79A164D6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97B7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7B72"/>
                </a:solidFill>
                <a:latin typeface="Arial"/>
                <a:ea typeface="Arial"/>
                <a:cs typeface="Arial"/>
              </a:rPr>
              <a:t>1. 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7C6ACE-A223-42B5-A70B-402EB62B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4953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33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335"/>
                </a:solidFill>
                <a:latin typeface="Arial"/>
                <a:ea typeface="Arial"/>
                <a:cs typeface="Arial"/>
              </a:rPr>
              <a:t>Exact ID: full item evidence. Fleet question: every current item summary.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C0B4DE-0D5F-44B2-BDED-82E74E5E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97B7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7B72"/>
                </a:solidFill>
                <a:latin typeface="Arial"/>
                <a:ea typeface="Arial"/>
                <a:cs typeface="Arial"/>
              </a:rPr>
              <a:t>2. Generate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8DE976-2CD9-4D76-B507-AB18C683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4953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33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335"/>
                </a:solidFill>
                <a:latin typeface="Arial"/>
                <a:ea typeface="Arial"/>
                <a:cs typeface="Arial"/>
              </a:rPr>
              <a:t>A real LLM call receives measured values, model output and operating assumptions.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7FDA99-0A5D-4BC1-B49A-2CF996D0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668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97B7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7B72"/>
                </a:solidFill>
                <a:latin typeface="Arial"/>
                <a:ea typeface="Arial"/>
                <a:cs typeface="Arial"/>
              </a:rPr>
              <a:t>3. Check and display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CB2DFC-F4F6-4BC1-ACB5-D3A343EA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24050"/>
            <a:ext cx="4857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33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335"/>
                </a:solidFill>
                <a:latin typeface="Arial"/>
                <a:ea typeface="Arial"/>
                <a:cs typeface="Arial"/>
              </a:rPr>
              <a:t>Validate cited IDs and render plain text. Show unavailable states on provider errors.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C6219B-204D-4545-935A-F765FA8F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956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97B7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7B72"/>
                </a:solidFill>
                <a:latin typeface="Arial"/>
                <a:ea typeface="Arial"/>
                <a:cs typeface="Arial"/>
              </a:rPr>
              <a:t>Grounding limits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355CAA-C353-4947-842A-92A9F8FC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52850"/>
            <a:ext cx="4857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33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335"/>
                </a:solidFill>
                <a:latin typeface="Arial"/>
                <a:ea typeface="Arial"/>
                <a:cs typeface="Arial"/>
              </a:rPr>
              <a:t>The LLM cannot act on stock or machinery. Review its numbers before making decisions.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46728D-7745-468D-AD49-1563653D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4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46C"/>
                </a:solidFill>
                <a:latin typeface="Arial"/>
                <a:ea typeface="Arial"/>
                <a:cs typeface="Arial"/>
              </a:rPr>
              <a:t>Live API key setup is still required. No canned explanation is presented as AI output.</a:t>
            </a:r>
          </a:p>
        </p:txBody>
      </p:sp>
    </p:spTree>
    <p:extLst>
      <p:ext uri="{BB962C8B-B14F-4D97-AF65-F5344CB8AC3E}">
        <p14:creationId xmlns:p14="http://schemas.microsoft.com/office/powerpoint/2010/main" val="10261902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C72F14-F83C-4F68-B37C-194A97F9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333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335"/>
                </a:solidFill>
                <a:latin typeface="Arial"/>
                <a:ea typeface="Arial"/>
                <a:cs typeface="Arial"/>
              </a:rPr>
              <a:t>Readiness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3745AC-C21F-4253-AC7D-46019259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97B7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7B72"/>
                </a:solidFill>
                <a:latin typeface="Arial"/>
                <a:ea typeface="Arial"/>
                <a:cs typeface="Arial"/>
              </a:rPr>
              <a:t>Available for local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535B2-AD84-48CA-A6F6-D2977AF4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4857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33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335"/>
                </a:solidFill>
                <a:latin typeface="Arial"/>
                <a:ea typeface="Arial"/>
                <a:cs typeface="Arial"/>
              </a:rPr>
              <a:t>Two apps, source code, reproducible models, prediction-level backtests and this deck.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F4C4E8-E566-4DD9-92E8-D5F1925F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97B7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7B72"/>
                </a:solidFill>
                <a:latin typeface="Arial"/>
                <a:ea typeface="Arial"/>
                <a:cs typeface="Arial"/>
              </a:rPr>
              <a:t>Before presenting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B9952E-ADA8-4C71-9DD8-3D99963C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4857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33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335"/>
                </a:solidFill>
                <a:latin typeface="Arial"/>
                <a:ea typeface="Arial"/>
                <a:cs typeface="Arial"/>
              </a:rPr>
              <a:t>Configure the API key and verify live answers. Rehearse the code and model tradeoffs.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D36209-5A15-41CB-9E74-9AA1E1D7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478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97B7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7B72"/>
                </a:solidFill>
                <a:latin typeface="Arial"/>
                <a:ea typeface="Arial"/>
                <a:cs typeface="Arial"/>
              </a:rPr>
              <a:t>Model improvements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7C9A49-396C-417D-8BE8-65654CEE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05000"/>
            <a:ext cx="4857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33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335"/>
                </a:solidFill>
                <a:latin typeface="Arial"/>
                <a:ea typeface="Arial"/>
                <a:cs typeface="Arial"/>
              </a:rPr>
              <a:t>Collect more failures and calibrate risk. Add purchase orders and stockout-adjusted demand.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5EADBB-363C-468D-9B73-115D1491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4327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97B7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7B72"/>
                </a:solidFill>
                <a:latin typeface="Arial"/>
                <a:ea typeface="Arial"/>
                <a:cs typeface="Arial"/>
              </a:rPr>
              <a:t>Operational rollout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1DA84A-05FE-472B-881F-D66E7D4D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00475"/>
            <a:ext cx="4857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33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335"/>
                </a:solidFill>
                <a:latin typeface="Arial"/>
                <a:ea typeface="Arial"/>
                <a:cs typeface="Arial"/>
              </a:rPr>
              <a:t>Agree alert costs and stock policy. Add live ingestion, authentication and secured hosting.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15C5E8-6505-4686-83B3-1F5C1260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4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46C"/>
                </a:solidFill>
                <a:latin typeface="Arial"/>
                <a:ea typeface="Arial"/>
                <a:cs typeface="Arial"/>
              </a:rPr>
              <a:t>Local run: python server.py. Public deployment and a remote repository URL remain to be set up.</a:t>
            </a:r>
          </a:p>
        </p:txBody>
      </p:sp>
    </p:spTree>
    <p:extLst>
      <p:ext uri="{BB962C8B-B14F-4D97-AF65-F5344CB8AC3E}">
        <p14:creationId xmlns:p14="http://schemas.microsoft.com/office/powerpoint/2010/main" val="18422549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2026-09-12T15:11:46.3770000Z</dcterms:created>
  <dcterms:modified xsi:type="dcterms:W3CDTF">2026-09-12T15:11:46.3770000Z</dcterms:modified>
</coreProperties>
</file>